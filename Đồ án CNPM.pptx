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7" r:id="rId1"/>
  </p:sldMasterIdLst>
  <p:notesMasterIdLst>
    <p:notesMasterId r:id="rId24"/>
  </p:notesMasterIdLst>
  <p:sldIdLst>
    <p:sldId id="299" r:id="rId2"/>
    <p:sldId id="256" r:id="rId3"/>
    <p:sldId id="283" r:id="rId4"/>
    <p:sldId id="300" r:id="rId5"/>
    <p:sldId id="284" r:id="rId6"/>
    <p:sldId id="285" r:id="rId7"/>
    <p:sldId id="286" r:id="rId8"/>
    <p:sldId id="280" r:id="rId9"/>
    <p:sldId id="282" r:id="rId10"/>
    <p:sldId id="287" r:id="rId11"/>
    <p:sldId id="288" r:id="rId12"/>
    <p:sldId id="289" r:id="rId13"/>
    <p:sldId id="290" r:id="rId14"/>
    <p:sldId id="291" r:id="rId15"/>
    <p:sldId id="292" r:id="rId16"/>
    <p:sldId id="293" r:id="rId17"/>
    <p:sldId id="294" r:id="rId18"/>
    <p:sldId id="295" r:id="rId19"/>
    <p:sldId id="296" r:id="rId20"/>
    <p:sldId id="297" r:id="rId21"/>
    <p:sldId id="298" r:id="rId22"/>
    <p:sldId id="276"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32" autoAdjust="0"/>
    <p:restoredTop sz="86965" autoAdjust="0"/>
  </p:normalViewPr>
  <p:slideViewPr>
    <p:cSldViewPr snapToGrid="0">
      <p:cViewPr varScale="1">
        <p:scale>
          <a:sx n="93" d="100"/>
          <a:sy n="93" d="100"/>
        </p:scale>
        <p:origin x="8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8009D2-C9D8-4945-B470-E61900D87D65}" type="datetimeFigureOut">
              <a:rPr lang="en-US" smtClean="0"/>
              <a:t>5/24/2024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3E269C-331D-4D4A-86B1-762EFD9D9488}" type="slidenum">
              <a:rPr lang="en-US" smtClean="0"/>
              <a:t>‹#›</a:t>
            </a:fld>
            <a:endParaRPr lang="en-US"/>
          </a:p>
        </p:txBody>
      </p:sp>
    </p:spTree>
    <p:extLst>
      <p:ext uri="{BB962C8B-B14F-4D97-AF65-F5344CB8AC3E}">
        <p14:creationId xmlns:p14="http://schemas.microsoft.com/office/powerpoint/2010/main" val="33596156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A3E269C-331D-4D4A-86B1-762EFD9D9488}" type="slidenum">
              <a:rPr lang="en-US" smtClean="0"/>
              <a:t>2</a:t>
            </a:fld>
            <a:endParaRPr lang="en-US"/>
          </a:p>
        </p:txBody>
      </p:sp>
    </p:spTree>
    <p:extLst>
      <p:ext uri="{BB962C8B-B14F-4D97-AF65-F5344CB8AC3E}">
        <p14:creationId xmlns:p14="http://schemas.microsoft.com/office/powerpoint/2010/main" val="1795345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1280791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10681954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3990103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3B53125-3DB6-4BB9-8326-F0320FE2AE48}" type="datetimeFigureOut">
              <a:rPr lang="en-US" smtClean="0"/>
              <a:t>5/24/2024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8788840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3B53125-3DB6-4BB9-8326-F0320FE2AE48}" type="datetimeFigureOut">
              <a:rPr lang="en-US" smtClean="0"/>
              <a:t>5/24/2024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2650159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3B53125-3DB6-4BB9-8326-F0320FE2AE48}" type="datetimeFigureOut">
              <a:rPr lang="en-US" smtClean="0"/>
              <a:t>5/24/2024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9354184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3B53125-3DB6-4BB9-8326-F0320FE2AE48}" type="datetimeFigureOut">
              <a:rPr lang="en-US" smtClean="0"/>
              <a:t>5/24/2024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3500903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3B53125-3DB6-4BB9-8326-F0320FE2AE48}" type="datetimeFigureOut">
              <a:rPr lang="en-US" smtClean="0"/>
              <a:t>5/24/2024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2348404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3B53125-3DB6-4BB9-8326-F0320FE2AE48}" type="datetimeFigureOut">
              <a:rPr lang="en-US" smtClean="0"/>
              <a:t>5/24/2024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32350177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3834671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34658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22841513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0367525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4334660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1939252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B53125-3DB6-4BB9-8326-F0320FE2AE48}" type="datetimeFigureOut">
              <a:rPr lang="en-US" smtClean="0"/>
              <a:t>5/24/2024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5AA7E4-4E56-4F2B-A22E-7E0A3F41305B}" type="slidenum">
              <a:rPr lang="en-US" smtClean="0"/>
              <a:t>‹#›</a:t>
            </a:fld>
            <a:endParaRPr lang="en-US"/>
          </a:p>
        </p:txBody>
      </p:sp>
    </p:spTree>
    <p:extLst>
      <p:ext uri="{BB962C8B-B14F-4D97-AF65-F5344CB8AC3E}">
        <p14:creationId xmlns:p14="http://schemas.microsoft.com/office/powerpoint/2010/main" val="1698034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3B53125-3DB6-4BB9-8326-F0320FE2AE48}" type="datetimeFigureOut">
              <a:rPr lang="en-US" smtClean="0"/>
              <a:t>5/24/2024</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65AA7E4-4E56-4F2B-A22E-7E0A3F41305B}" type="slidenum">
              <a:rPr lang="en-US" smtClean="0"/>
              <a:t>‹#›</a:t>
            </a:fld>
            <a:endParaRPr lang="en-US"/>
          </a:p>
        </p:txBody>
      </p:sp>
    </p:spTree>
    <p:extLst>
      <p:ext uri="{BB962C8B-B14F-4D97-AF65-F5344CB8AC3E}">
        <p14:creationId xmlns:p14="http://schemas.microsoft.com/office/powerpoint/2010/main" val="1691737031"/>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139558-E334-EA9E-5F28-05928C36C1C5}"/>
              </a:ext>
            </a:extLst>
          </p:cNvPr>
          <p:cNvSpPr/>
          <p:nvPr/>
        </p:nvSpPr>
        <p:spPr>
          <a:xfrm>
            <a:off x="518815" y="-534642"/>
            <a:ext cx="9787466" cy="2308324"/>
          </a:xfrm>
          <a:prstGeom prst="rect">
            <a:avLst/>
          </a:prstGeom>
          <a:noFill/>
        </p:spPr>
        <p:txBody>
          <a:bodyPr wrap="square" lIns="91440" tIns="45720" rIns="91440" bIns="45720" anchor="ctr">
            <a:spAutoFit/>
          </a:bodyPr>
          <a:lstStyle/>
          <a:p>
            <a:pPr algn="ctr"/>
            <a:endPar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endParaRPr>
          </a:p>
          <a:p>
            <a:r>
              <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Môn </a:t>
            </a:r>
            <a:r>
              <a:rPr lang="en-US" sz="72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học</a:t>
            </a:r>
            <a:r>
              <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 :</a:t>
            </a:r>
          </a:p>
        </p:txBody>
      </p:sp>
      <p:sp>
        <p:nvSpPr>
          <p:cNvPr id="5" name="TextBox 4">
            <a:extLst>
              <a:ext uri="{FF2B5EF4-FFF2-40B4-BE49-F238E27FC236}">
                <a16:creationId xmlns:a16="http://schemas.microsoft.com/office/drawing/2014/main" id="{7706B7C4-F591-244D-1EE9-C1651B89BBE0}"/>
              </a:ext>
            </a:extLst>
          </p:cNvPr>
          <p:cNvSpPr txBox="1"/>
          <p:nvPr/>
        </p:nvSpPr>
        <p:spPr>
          <a:xfrm>
            <a:off x="2452532" y="1858396"/>
            <a:ext cx="7446839" cy="923330"/>
          </a:xfrm>
          <a:prstGeom prst="rect">
            <a:avLst/>
          </a:prstGeom>
          <a:noFill/>
        </p:spPr>
        <p:txBody>
          <a:bodyPr wrap="square" rtlCol="0">
            <a:spAutoFit/>
          </a:bodyPr>
          <a:lstStyle/>
          <a:p>
            <a:r>
              <a:rPr lang="en-US" sz="54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Công</a:t>
            </a:r>
            <a:r>
              <a:rPr lang="en-US" sz="54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 </a:t>
            </a:r>
            <a:r>
              <a:rPr lang="en-US" sz="54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nghệ</a:t>
            </a:r>
            <a:r>
              <a:rPr lang="en-US" sz="54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 </a:t>
            </a:r>
            <a:r>
              <a:rPr lang="en-US" sz="54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phần</a:t>
            </a:r>
            <a:r>
              <a:rPr lang="en-US" sz="54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 </a:t>
            </a:r>
            <a:r>
              <a:rPr lang="en-US" sz="54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mềm</a:t>
            </a:r>
            <a:endParaRPr lang="en-US" sz="5400" dirty="0"/>
          </a:p>
        </p:txBody>
      </p:sp>
      <p:pic>
        <p:nvPicPr>
          <p:cNvPr id="7" name="Picture 6">
            <a:extLst>
              <a:ext uri="{FF2B5EF4-FFF2-40B4-BE49-F238E27FC236}">
                <a16:creationId xmlns:a16="http://schemas.microsoft.com/office/drawing/2014/main" id="{A908E2EB-0AB7-4406-D22E-19A4358B96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282" y="3683935"/>
            <a:ext cx="2308324" cy="2308324"/>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8" name="TextBox 7">
            <a:extLst>
              <a:ext uri="{FF2B5EF4-FFF2-40B4-BE49-F238E27FC236}">
                <a16:creationId xmlns:a16="http://schemas.microsoft.com/office/drawing/2014/main" id="{423A4E9E-46C7-F065-5193-7CA1AC2A5736}"/>
              </a:ext>
            </a:extLst>
          </p:cNvPr>
          <p:cNvSpPr txBox="1"/>
          <p:nvPr/>
        </p:nvSpPr>
        <p:spPr>
          <a:xfrm>
            <a:off x="2869971" y="3537666"/>
            <a:ext cx="7446839" cy="1077218"/>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Đề</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tài</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Xây</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dựng</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phần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mềm</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bán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vé</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xe</a:t>
            </a:r>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a:p>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AF23BC4A-E3E9-B1F0-37F9-5734192A4B95}"/>
              </a:ext>
            </a:extLst>
          </p:cNvPr>
          <p:cNvSpPr txBox="1"/>
          <p:nvPr/>
        </p:nvSpPr>
        <p:spPr>
          <a:xfrm>
            <a:off x="2869971" y="4545710"/>
            <a:ext cx="7446839"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Tên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nhóm</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QB_TTH_KH</a:t>
            </a:r>
          </a:p>
        </p:txBody>
      </p:sp>
      <p:sp>
        <p:nvSpPr>
          <p:cNvPr id="11" name="TextBox 10">
            <a:extLst>
              <a:ext uri="{FF2B5EF4-FFF2-40B4-BE49-F238E27FC236}">
                <a16:creationId xmlns:a16="http://schemas.microsoft.com/office/drawing/2014/main" id="{EFA854D9-BA54-D120-F7D5-ABB2F4D3B2FC}"/>
              </a:ext>
            </a:extLst>
          </p:cNvPr>
          <p:cNvSpPr txBox="1"/>
          <p:nvPr/>
        </p:nvSpPr>
        <p:spPr>
          <a:xfrm>
            <a:off x="2869970" y="5599920"/>
            <a:ext cx="7446839"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Giảng</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viên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Trần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Thanh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Nhã</a:t>
            </a:r>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16801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9E72512-3029-D6FE-15D7-4A4D0D6F4EB5}"/>
              </a:ext>
            </a:extLst>
          </p:cNvPr>
          <p:cNvSpPr/>
          <p:nvPr/>
        </p:nvSpPr>
        <p:spPr>
          <a:xfrm>
            <a:off x="821323" y="-940278"/>
            <a:ext cx="9787466" cy="2308324"/>
          </a:xfrm>
          <a:prstGeom prst="rect">
            <a:avLst/>
          </a:prstGeom>
          <a:noFill/>
        </p:spPr>
        <p:txBody>
          <a:bodyPr wrap="square" lIns="91440" tIns="45720" rIns="91440" bIns="45720" anchor="ctr">
            <a:spAutoFit/>
          </a:bodyPr>
          <a:lstStyle/>
          <a:p>
            <a:pPr algn="ctr"/>
            <a:endPar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endParaRPr>
          </a:p>
          <a:p>
            <a:r>
              <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Thành </a:t>
            </a:r>
            <a:r>
              <a:rPr lang="en-US" sz="72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viên</a:t>
            </a:r>
            <a:r>
              <a:rPr lang="en-US" sz="7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rPr>
              <a:t>:</a:t>
            </a:r>
          </a:p>
        </p:txBody>
      </p:sp>
      <p:sp>
        <p:nvSpPr>
          <p:cNvPr id="10" name="TextBox 9">
            <a:extLst>
              <a:ext uri="{FF2B5EF4-FFF2-40B4-BE49-F238E27FC236}">
                <a16:creationId xmlns:a16="http://schemas.microsoft.com/office/drawing/2014/main" id="{A9874BA1-DCE9-38A5-D822-6D3BB64D95CD}"/>
              </a:ext>
            </a:extLst>
          </p:cNvPr>
          <p:cNvSpPr txBox="1"/>
          <p:nvPr/>
        </p:nvSpPr>
        <p:spPr>
          <a:xfrm>
            <a:off x="649445" y="2844225"/>
            <a:ext cx="4149595"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Đặng</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Minh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Nghĩa</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(C) </a:t>
            </a:r>
          </a:p>
        </p:txBody>
      </p:sp>
      <p:sp>
        <p:nvSpPr>
          <p:cNvPr id="11" name="TextBox 10">
            <a:extLst>
              <a:ext uri="{FF2B5EF4-FFF2-40B4-BE49-F238E27FC236}">
                <a16:creationId xmlns:a16="http://schemas.microsoft.com/office/drawing/2014/main" id="{3DC94FD8-32B7-1733-5B5F-522336B665B6}"/>
              </a:ext>
            </a:extLst>
          </p:cNvPr>
          <p:cNvSpPr txBox="1"/>
          <p:nvPr/>
        </p:nvSpPr>
        <p:spPr>
          <a:xfrm>
            <a:off x="1537874" y="1987690"/>
            <a:ext cx="1947847" cy="584775"/>
          </a:xfrm>
          <a:prstGeom prst="rect">
            <a:avLst/>
          </a:prstGeom>
          <a:noFill/>
        </p:spPr>
        <p:txBody>
          <a:bodyPr wrap="square" rtlCol="0">
            <a:spAutoFit/>
          </a:bodyPr>
          <a:lstStyle/>
          <a:p>
            <a:pPr algn="ctr"/>
            <a:r>
              <a:rPr lang="en-US" sz="3200" b="1" dirty="0" err="1">
                <a:solidFill>
                  <a:schemeClr val="tx1">
                    <a:lumMod val="85000"/>
                    <a:lumOff val="15000"/>
                  </a:schemeClr>
                </a:solidFill>
                <a:latin typeface="Times New Roman" panose="02020603050405020304" pitchFamily="18" charset="0"/>
                <a:cs typeface="Times New Roman" panose="02020603050405020304" pitchFamily="18" charset="0"/>
              </a:rPr>
              <a:t>Họ</a:t>
            </a:r>
            <a:r>
              <a:rPr lang="en-US" sz="3200" b="1"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b="1" dirty="0" err="1">
                <a:solidFill>
                  <a:schemeClr val="tx1">
                    <a:lumMod val="85000"/>
                    <a:lumOff val="15000"/>
                  </a:schemeClr>
                </a:solidFill>
                <a:latin typeface="Times New Roman" panose="02020603050405020304" pitchFamily="18" charset="0"/>
                <a:cs typeface="Times New Roman" panose="02020603050405020304" pitchFamily="18" charset="0"/>
              </a:rPr>
              <a:t>và</a:t>
            </a:r>
            <a:r>
              <a:rPr lang="en-US" sz="3200" b="1"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b="1" dirty="0" err="1">
                <a:solidFill>
                  <a:schemeClr val="tx1">
                    <a:lumMod val="85000"/>
                    <a:lumOff val="15000"/>
                  </a:schemeClr>
                </a:solidFill>
                <a:latin typeface="Times New Roman" panose="02020603050405020304" pitchFamily="18" charset="0"/>
                <a:cs typeface="Times New Roman" panose="02020603050405020304" pitchFamily="18" charset="0"/>
              </a:rPr>
              <a:t>tên</a:t>
            </a:r>
            <a:endParaRPr lang="en-US" sz="3200" b="1"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E2F20437-90D8-8267-4B2D-21F1B86ACC6E}"/>
              </a:ext>
            </a:extLst>
          </p:cNvPr>
          <p:cNvSpPr txBox="1"/>
          <p:nvPr/>
        </p:nvSpPr>
        <p:spPr>
          <a:xfrm>
            <a:off x="5152566" y="1983873"/>
            <a:ext cx="1781696" cy="584775"/>
          </a:xfrm>
          <a:prstGeom prst="rect">
            <a:avLst/>
          </a:prstGeom>
          <a:noFill/>
        </p:spPr>
        <p:txBody>
          <a:bodyPr wrap="square" rtlCol="0">
            <a:spAutoFit/>
          </a:bodyPr>
          <a:lstStyle/>
          <a:p>
            <a:pPr algn="ctr"/>
            <a:r>
              <a:rPr lang="en-US" sz="3200" b="1" dirty="0">
                <a:solidFill>
                  <a:schemeClr val="tx1">
                    <a:lumMod val="85000"/>
                    <a:lumOff val="15000"/>
                  </a:schemeClr>
                </a:solidFill>
                <a:latin typeface="Times New Roman" panose="02020603050405020304" pitchFamily="18" charset="0"/>
                <a:cs typeface="Times New Roman" panose="02020603050405020304" pitchFamily="18" charset="0"/>
              </a:rPr>
              <a:t>MSSV</a:t>
            </a:r>
          </a:p>
        </p:txBody>
      </p:sp>
      <p:sp>
        <p:nvSpPr>
          <p:cNvPr id="13" name="TextBox 12">
            <a:extLst>
              <a:ext uri="{FF2B5EF4-FFF2-40B4-BE49-F238E27FC236}">
                <a16:creationId xmlns:a16="http://schemas.microsoft.com/office/drawing/2014/main" id="{DE97FC6A-FF1B-8A74-E635-7C94C2D67614}"/>
              </a:ext>
            </a:extLst>
          </p:cNvPr>
          <p:cNvSpPr txBox="1"/>
          <p:nvPr/>
        </p:nvSpPr>
        <p:spPr>
          <a:xfrm>
            <a:off x="8038424" y="1973558"/>
            <a:ext cx="1278660" cy="584775"/>
          </a:xfrm>
          <a:prstGeom prst="rect">
            <a:avLst/>
          </a:prstGeom>
          <a:noFill/>
        </p:spPr>
        <p:txBody>
          <a:bodyPr wrap="square" rtlCol="0">
            <a:spAutoFit/>
          </a:bodyPr>
          <a:lstStyle/>
          <a:p>
            <a:pPr algn="ctr"/>
            <a:r>
              <a:rPr lang="en-US" sz="3200" b="1" dirty="0" err="1">
                <a:solidFill>
                  <a:schemeClr val="tx1">
                    <a:lumMod val="85000"/>
                    <a:lumOff val="15000"/>
                  </a:schemeClr>
                </a:solidFill>
                <a:latin typeface="Times New Roman" panose="02020603050405020304" pitchFamily="18" charset="0"/>
                <a:cs typeface="Times New Roman" panose="02020603050405020304" pitchFamily="18" charset="0"/>
              </a:rPr>
              <a:t>Lớp</a:t>
            </a:r>
            <a:endParaRPr lang="en-US" sz="3200" b="1"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37E3601-C057-1496-FD9F-B13482C4F6C6}"/>
              </a:ext>
            </a:extLst>
          </p:cNvPr>
          <p:cNvSpPr txBox="1"/>
          <p:nvPr/>
        </p:nvSpPr>
        <p:spPr>
          <a:xfrm>
            <a:off x="649445" y="3756256"/>
            <a:ext cx="4149595"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Trương</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Quang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Phát</a:t>
            </a:r>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53B790C-8EBC-69FA-A455-07726F869D21}"/>
              </a:ext>
            </a:extLst>
          </p:cNvPr>
          <p:cNvSpPr txBox="1"/>
          <p:nvPr/>
        </p:nvSpPr>
        <p:spPr>
          <a:xfrm>
            <a:off x="649445" y="4724512"/>
            <a:ext cx="4149595"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Nguyễn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Chí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Đức</a:t>
            </a:r>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CF618C46-8AA6-346C-A4FA-F9B288274CBD}"/>
              </a:ext>
            </a:extLst>
          </p:cNvPr>
          <p:cNvSpPr txBox="1"/>
          <p:nvPr/>
        </p:nvSpPr>
        <p:spPr>
          <a:xfrm>
            <a:off x="649445" y="5715685"/>
            <a:ext cx="4149595" cy="584775"/>
          </a:xfrm>
          <a:prstGeom prst="rect">
            <a:avLst/>
          </a:prstGeom>
          <a:noFill/>
        </p:spPr>
        <p:txBody>
          <a:bodyPr wrap="square" rtlCol="0">
            <a:spAutoFit/>
          </a:bodyPr>
          <a:lstStyle/>
          <a:p>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Nguyễn</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Ái</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Thiềm</a:t>
            </a: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3200" dirty="0" err="1">
                <a:solidFill>
                  <a:schemeClr val="tx1">
                    <a:lumMod val="85000"/>
                    <a:lumOff val="15000"/>
                  </a:schemeClr>
                </a:solidFill>
                <a:latin typeface="Times New Roman" panose="02020603050405020304" pitchFamily="18" charset="0"/>
                <a:cs typeface="Times New Roman" panose="02020603050405020304" pitchFamily="18" charset="0"/>
              </a:rPr>
              <a:t>Định</a:t>
            </a:r>
            <a:endParaRPr lang="en-US" sz="32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ABAF3B4-FEF8-9003-F2E4-7D8A070E1685}"/>
              </a:ext>
            </a:extLst>
          </p:cNvPr>
          <p:cNvSpPr txBox="1"/>
          <p:nvPr/>
        </p:nvSpPr>
        <p:spPr>
          <a:xfrm>
            <a:off x="4735331" y="2844225"/>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DH52111357</a:t>
            </a:r>
          </a:p>
        </p:txBody>
      </p:sp>
      <p:sp>
        <p:nvSpPr>
          <p:cNvPr id="25" name="TextBox 24">
            <a:extLst>
              <a:ext uri="{FF2B5EF4-FFF2-40B4-BE49-F238E27FC236}">
                <a16:creationId xmlns:a16="http://schemas.microsoft.com/office/drawing/2014/main" id="{B15272A2-3522-E746-A52C-CE224B8F77A1}"/>
              </a:ext>
            </a:extLst>
          </p:cNvPr>
          <p:cNvSpPr txBox="1"/>
          <p:nvPr/>
        </p:nvSpPr>
        <p:spPr>
          <a:xfrm>
            <a:off x="4735331" y="3752439"/>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DH52111481</a:t>
            </a:r>
          </a:p>
        </p:txBody>
      </p:sp>
      <p:sp>
        <p:nvSpPr>
          <p:cNvPr id="26" name="TextBox 25">
            <a:extLst>
              <a:ext uri="{FF2B5EF4-FFF2-40B4-BE49-F238E27FC236}">
                <a16:creationId xmlns:a16="http://schemas.microsoft.com/office/drawing/2014/main" id="{6E008218-93BE-AC8E-2440-9435314AF082}"/>
              </a:ext>
            </a:extLst>
          </p:cNvPr>
          <p:cNvSpPr txBox="1"/>
          <p:nvPr/>
        </p:nvSpPr>
        <p:spPr>
          <a:xfrm>
            <a:off x="4735330" y="4764579"/>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DH52110821</a:t>
            </a:r>
          </a:p>
        </p:txBody>
      </p:sp>
      <p:sp>
        <p:nvSpPr>
          <p:cNvPr id="27" name="TextBox 26">
            <a:extLst>
              <a:ext uri="{FF2B5EF4-FFF2-40B4-BE49-F238E27FC236}">
                <a16:creationId xmlns:a16="http://schemas.microsoft.com/office/drawing/2014/main" id="{303E6339-18E9-14A6-19B4-13E67BC9C0A7}"/>
              </a:ext>
            </a:extLst>
          </p:cNvPr>
          <p:cNvSpPr txBox="1"/>
          <p:nvPr/>
        </p:nvSpPr>
        <p:spPr>
          <a:xfrm>
            <a:off x="4735330" y="5712398"/>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DH52110805</a:t>
            </a:r>
          </a:p>
        </p:txBody>
      </p:sp>
      <p:sp>
        <p:nvSpPr>
          <p:cNvPr id="28" name="TextBox 27">
            <a:extLst>
              <a:ext uri="{FF2B5EF4-FFF2-40B4-BE49-F238E27FC236}">
                <a16:creationId xmlns:a16="http://schemas.microsoft.com/office/drawing/2014/main" id="{946C2DB0-123E-FB74-7582-ABE299F75EC4}"/>
              </a:ext>
            </a:extLst>
          </p:cNvPr>
          <p:cNvSpPr txBox="1"/>
          <p:nvPr/>
        </p:nvSpPr>
        <p:spPr>
          <a:xfrm>
            <a:off x="7342172" y="2844224"/>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D21_TH09</a:t>
            </a:r>
          </a:p>
        </p:txBody>
      </p:sp>
      <p:sp>
        <p:nvSpPr>
          <p:cNvPr id="29" name="TextBox 28">
            <a:extLst>
              <a:ext uri="{FF2B5EF4-FFF2-40B4-BE49-F238E27FC236}">
                <a16:creationId xmlns:a16="http://schemas.microsoft.com/office/drawing/2014/main" id="{E60BBCE1-5A45-AA35-2724-FEFA56B24B92}"/>
              </a:ext>
            </a:extLst>
          </p:cNvPr>
          <p:cNvSpPr txBox="1"/>
          <p:nvPr/>
        </p:nvSpPr>
        <p:spPr>
          <a:xfrm>
            <a:off x="7342172" y="3748622"/>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D21_TH09</a:t>
            </a:r>
          </a:p>
        </p:txBody>
      </p:sp>
      <p:sp>
        <p:nvSpPr>
          <p:cNvPr id="30" name="TextBox 29">
            <a:extLst>
              <a:ext uri="{FF2B5EF4-FFF2-40B4-BE49-F238E27FC236}">
                <a16:creationId xmlns:a16="http://schemas.microsoft.com/office/drawing/2014/main" id="{4876D92B-2155-E528-E5B6-0C7CCF695780}"/>
              </a:ext>
            </a:extLst>
          </p:cNvPr>
          <p:cNvSpPr txBox="1"/>
          <p:nvPr/>
        </p:nvSpPr>
        <p:spPr>
          <a:xfrm>
            <a:off x="7342172" y="4743190"/>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D21_TH09</a:t>
            </a:r>
          </a:p>
        </p:txBody>
      </p:sp>
      <p:sp>
        <p:nvSpPr>
          <p:cNvPr id="31" name="TextBox 30">
            <a:extLst>
              <a:ext uri="{FF2B5EF4-FFF2-40B4-BE49-F238E27FC236}">
                <a16:creationId xmlns:a16="http://schemas.microsoft.com/office/drawing/2014/main" id="{A2F17021-EC8F-3DFC-BDED-5B146B1741F4}"/>
              </a:ext>
            </a:extLst>
          </p:cNvPr>
          <p:cNvSpPr txBox="1"/>
          <p:nvPr/>
        </p:nvSpPr>
        <p:spPr>
          <a:xfrm>
            <a:off x="7342172" y="5647588"/>
            <a:ext cx="2671165" cy="584775"/>
          </a:xfrm>
          <a:prstGeom prst="rect">
            <a:avLst/>
          </a:prstGeom>
          <a:noFill/>
        </p:spPr>
        <p:txBody>
          <a:bodyPr wrap="square" rtlCol="0">
            <a:spAutoFit/>
          </a:bodyPr>
          <a:lstStyle/>
          <a:p>
            <a:pPr algn="ctr"/>
            <a:r>
              <a:rPr lang="en-US" sz="3200" dirty="0">
                <a:solidFill>
                  <a:schemeClr val="tx1">
                    <a:lumMod val="85000"/>
                    <a:lumOff val="15000"/>
                  </a:schemeClr>
                </a:solidFill>
                <a:latin typeface="Times New Roman" panose="02020603050405020304" pitchFamily="18" charset="0"/>
                <a:cs typeface="Times New Roman" panose="02020603050405020304" pitchFamily="18" charset="0"/>
              </a:rPr>
              <a:t>D21_TH09</a:t>
            </a:r>
          </a:p>
        </p:txBody>
      </p:sp>
    </p:spTree>
    <p:extLst>
      <p:ext uri="{BB962C8B-B14F-4D97-AF65-F5344CB8AC3E}">
        <p14:creationId xmlns:p14="http://schemas.microsoft.com/office/powerpoint/2010/main" val="2984970611"/>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820418" y="-367891"/>
            <a:ext cx="8369324" cy="1754326"/>
          </a:xfrm>
          <a:prstGeom prst="rect">
            <a:avLst/>
          </a:prstGeom>
          <a:noFill/>
        </p:spPr>
        <p:txBody>
          <a:bodyPr wrap="square" lIns="91440" tIns="45720" rIns="91440" bIns="45720">
            <a:spAutoFit/>
          </a:bodyPr>
          <a:lstStyle/>
          <a:p>
            <a:pPr algn="ctr"/>
            <a:endParaRPr lang="en-US" sz="54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endParaRPr>
          </a:p>
          <a:p>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I.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Giới</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thiệu</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dự</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án</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phần</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mềm</a:t>
            </a:r>
            <a:endPar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CC1F1F14-C2DA-6E3F-39BD-4CBE7E51E5F1}"/>
              </a:ext>
            </a:extLst>
          </p:cNvPr>
          <p:cNvSpPr/>
          <p:nvPr/>
        </p:nvSpPr>
        <p:spPr>
          <a:xfrm>
            <a:off x="939701" y="1766152"/>
            <a:ext cx="8250041" cy="468277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just"/>
            <a:r>
              <a:rPr lang="en-US" sz="4400" dirty="0" err="1">
                <a:solidFill>
                  <a:srgbClr val="FF0000"/>
                </a:solidFill>
                <a:latin typeface="Times New Roman" panose="02020603050405020304" pitchFamily="18" charset="0"/>
                <a:cs typeface="Times New Roman" panose="02020603050405020304" pitchFamily="18" charset="0"/>
              </a:rPr>
              <a:t>Phần</a:t>
            </a:r>
            <a:r>
              <a:rPr lang="en-US" sz="4400" dirty="0">
                <a:solidFill>
                  <a:srgbClr val="FF0000"/>
                </a:solidFill>
                <a:latin typeface="Times New Roman" panose="02020603050405020304" pitchFamily="18" charset="0"/>
                <a:cs typeface="Times New Roman" panose="02020603050405020304" pitchFamily="18" charset="0"/>
              </a:rPr>
              <a:t> </a:t>
            </a:r>
            <a:r>
              <a:rPr lang="en-US" sz="4400" dirty="0" err="1">
                <a:solidFill>
                  <a:srgbClr val="FF0000"/>
                </a:solidFill>
                <a:latin typeface="Times New Roman" panose="02020603050405020304" pitchFamily="18" charset="0"/>
                <a:cs typeface="Times New Roman" panose="02020603050405020304" pitchFamily="18" charset="0"/>
              </a:rPr>
              <a:t>mềm</a:t>
            </a:r>
            <a:r>
              <a:rPr lang="en-US" sz="4400" dirty="0">
                <a:solidFill>
                  <a:srgbClr val="FF0000"/>
                </a:solidFill>
                <a:latin typeface="Times New Roman" panose="02020603050405020304" pitchFamily="18" charset="0"/>
                <a:cs typeface="Times New Roman" panose="02020603050405020304" pitchFamily="18" charset="0"/>
              </a:rPr>
              <a:t> </a:t>
            </a:r>
            <a:r>
              <a:rPr lang="en-US" sz="4400" dirty="0" err="1">
                <a:solidFill>
                  <a:srgbClr val="FF0000"/>
                </a:solidFill>
                <a:latin typeface="Times New Roman" panose="02020603050405020304" pitchFamily="18" charset="0"/>
                <a:cs typeface="Times New Roman" panose="02020603050405020304" pitchFamily="18" charset="0"/>
              </a:rPr>
              <a:t>bán</a:t>
            </a:r>
            <a:r>
              <a:rPr lang="en-US" sz="4400" dirty="0">
                <a:solidFill>
                  <a:srgbClr val="FF0000"/>
                </a:solidFill>
                <a:latin typeface="Times New Roman" panose="02020603050405020304" pitchFamily="18" charset="0"/>
                <a:cs typeface="Times New Roman" panose="02020603050405020304" pitchFamily="18" charset="0"/>
              </a:rPr>
              <a:t> </a:t>
            </a:r>
            <a:r>
              <a:rPr lang="en-US" sz="4400" dirty="0" err="1">
                <a:solidFill>
                  <a:srgbClr val="FF0000"/>
                </a:solidFill>
                <a:latin typeface="Times New Roman" panose="02020603050405020304" pitchFamily="18" charset="0"/>
                <a:cs typeface="Times New Roman" panose="02020603050405020304" pitchFamily="18" charset="0"/>
              </a:rPr>
              <a:t>vé</a:t>
            </a:r>
            <a:r>
              <a:rPr lang="en-US" sz="4400" dirty="0">
                <a:solidFill>
                  <a:srgbClr val="FF0000"/>
                </a:solidFill>
                <a:latin typeface="Times New Roman" panose="02020603050405020304" pitchFamily="18" charset="0"/>
                <a:cs typeface="Times New Roman" panose="02020603050405020304" pitchFamily="18" charset="0"/>
              </a:rPr>
              <a:t> </a:t>
            </a:r>
            <a:r>
              <a:rPr lang="en-US" sz="4400" dirty="0" err="1">
                <a:solidFill>
                  <a:srgbClr val="FF0000"/>
                </a:solidFill>
                <a:latin typeface="Times New Roman" panose="02020603050405020304" pitchFamily="18" charset="0"/>
                <a:cs typeface="Times New Roman" panose="02020603050405020304" pitchFamily="18" charset="0"/>
              </a:rPr>
              <a:t>xe</a:t>
            </a:r>
            <a:r>
              <a:rPr lang="en-US" sz="4400" dirty="0">
                <a:solidFill>
                  <a:srgbClr val="FF0000"/>
                </a:solidFill>
                <a:latin typeface="Times New Roman" panose="02020603050405020304" pitchFamily="18" charset="0"/>
                <a:cs typeface="Times New Roman" panose="02020603050405020304" pitchFamily="18" charset="0"/>
              </a:rPr>
              <a:t>:</a:t>
            </a:r>
            <a:r>
              <a:rPr lang="en-US" sz="3600" dirty="0">
                <a:solidFill>
                  <a:srgbClr val="FF0000"/>
                </a:solidFill>
                <a:latin typeface="Times New Roman" panose="02020603050405020304" pitchFamily="18" charset="0"/>
                <a:cs typeface="Times New Roman" panose="02020603050405020304" pitchFamily="18" charset="0"/>
              </a:rPr>
              <a:t> </a:t>
            </a:r>
            <a:r>
              <a:rPr lang="vi-VN" sz="2800" dirty="0">
                <a:solidFill>
                  <a:schemeClr val="tx1">
                    <a:lumMod val="85000"/>
                    <a:lumOff val="15000"/>
                  </a:schemeClr>
                </a:solidFill>
                <a:latin typeface="Times New Roman" panose="02020603050405020304" pitchFamily="18" charset="0"/>
                <a:cs typeface="Times New Roman" panose="02020603050405020304" pitchFamily="18" charset="0"/>
              </a:rPr>
              <a:t>Là một ứng dụng được thiết kế để quản lý quá trình bán vé và quản lý hành trình cho các chuyến xe của nhà xe. Với giao diện thân thiện và tính linh hoạt, phần mềm này giúp nhà xe tăng cường hiệu suất, tối ưu hóa quy trình bán</a:t>
            </a:r>
            <a:r>
              <a:rPr lang="en-US" sz="28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2800" dirty="0" err="1">
                <a:solidFill>
                  <a:schemeClr val="tx1">
                    <a:lumMod val="85000"/>
                    <a:lumOff val="15000"/>
                  </a:schemeClr>
                </a:solidFill>
                <a:latin typeface="Times New Roman" panose="02020603050405020304" pitchFamily="18" charset="0"/>
                <a:cs typeface="Times New Roman" panose="02020603050405020304" pitchFamily="18" charset="0"/>
              </a:rPr>
              <a:t>quản</a:t>
            </a:r>
            <a:r>
              <a:rPr lang="en-US" sz="2800" dirty="0">
                <a:solidFill>
                  <a:schemeClr val="tx1">
                    <a:lumMod val="85000"/>
                    <a:lumOff val="15000"/>
                  </a:schemeClr>
                </a:solidFill>
                <a:latin typeface="Times New Roman" panose="02020603050405020304" pitchFamily="18" charset="0"/>
                <a:cs typeface="Times New Roman" panose="02020603050405020304" pitchFamily="18" charset="0"/>
              </a:rPr>
              <a:t> </a:t>
            </a:r>
            <a:r>
              <a:rPr lang="en-US" sz="2800" dirty="0" err="1">
                <a:solidFill>
                  <a:schemeClr val="tx1">
                    <a:lumMod val="85000"/>
                    <a:lumOff val="15000"/>
                  </a:schemeClr>
                </a:solidFill>
                <a:latin typeface="Times New Roman" panose="02020603050405020304" pitchFamily="18" charset="0"/>
                <a:cs typeface="Times New Roman" panose="02020603050405020304" pitchFamily="18" charset="0"/>
              </a:rPr>
              <a:t>lý</a:t>
            </a:r>
            <a:r>
              <a:rPr lang="vi-VN" sz="2800" dirty="0">
                <a:solidFill>
                  <a:schemeClr val="tx1">
                    <a:lumMod val="85000"/>
                    <a:lumOff val="15000"/>
                  </a:schemeClr>
                </a:solidFill>
                <a:latin typeface="Times New Roman" panose="02020603050405020304" pitchFamily="18" charset="0"/>
                <a:cs typeface="Times New Roman" panose="02020603050405020304" pitchFamily="18" charset="0"/>
              </a:rPr>
              <a:t> vé và nâng cao trải nghiệm của khách hàng.</a:t>
            </a:r>
            <a:endParaRPr lang="en-US" sz="2800" dirty="0">
              <a:solidFill>
                <a:schemeClr val="tx1">
                  <a:lumMod val="85000"/>
                  <a:lumOff val="15000"/>
                </a:schemeClr>
              </a:solidFill>
              <a:latin typeface="Times New Roman" panose="02020603050405020304" pitchFamily="18" charset="0"/>
              <a:cs typeface="Times New Roman" panose="02020603050405020304" pitchFamily="18" charset="0"/>
            </a:endParaRPr>
          </a:p>
          <a:p>
            <a:pPr algn="just"/>
            <a:endParaRPr lang="en-US" sz="2800" dirty="0">
              <a:solidFill>
                <a:schemeClr val="tx1">
                  <a:lumMod val="85000"/>
                  <a:lumOff val="1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48076573"/>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6"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circle(in)">
                                      <p:cBhvr>
                                        <p:cTn id="14"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820418" y="-367891"/>
            <a:ext cx="8369324" cy="1754326"/>
          </a:xfrm>
          <a:prstGeom prst="rect">
            <a:avLst/>
          </a:prstGeom>
          <a:noFill/>
        </p:spPr>
        <p:txBody>
          <a:bodyPr wrap="square" lIns="91440" tIns="45720" rIns="91440" bIns="45720">
            <a:spAutoFit/>
          </a:bodyPr>
          <a:lstStyle/>
          <a:p>
            <a:pPr algn="ctr"/>
            <a:endParaRPr lang="en-US" sz="54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Times New Roman" panose="02020603050405020304" pitchFamily="18" charset="0"/>
              <a:cs typeface="Times New Roman" panose="02020603050405020304" pitchFamily="18" charset="0"/>
            </a:endParaRPr>
          </a:p>
          <a:p>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I.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Giới</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thiệu</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dự</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án</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phần</a:t>
            </a:r>
            <a:r>
              <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54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mềm</a:t>
            </a:r>
            <a:endParaRPr lang="en-US" sz="54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6338474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2264208" y="497144"/>
            <a:ext cx="6890327" cy="707886"/>
          </a:xfrm>
          <a:prstGeom prst="rect">
            <a:avLst/>
          </a:prstGeom>
          <a:noFill/>
        </p:spPr>
        <p:txBody>
          <a:bodyPr wrap="square" lIns="91440" tIns="45720" rIns="91440" bIns="45720">
            <a:spAutoFit/>
          </a:bodyPr>
          <a:lstStyle/>
          <a:p>
            <a:pPr algn="ct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II.Quản</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Lý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Dự</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Án</a:t>
            </a:r>
            <a:endPar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A0268D86-3D9C-A439-3355-BAFD3C8E3493}"/>
              </a:ext>
            </a:extLst>
          </p:cNvPr>
          <p:cNvSpPr/>
          <p:nvPr/>
        </p:nvSpPr>
        <p:spPr>
          <a:xfrm>
            <a:off x="1976820" y="1973179"/>
            <a:ext cx="7465101" cy="42351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2500" dirty="0" err="1">
                <a:solidFill>
                  <a:srgbClr val="FF0000"/>
                </a:solidFill>
                <a:latin typeface="Times New Roman" panose="02020603050405020304" pitchFamily="18" charset="0"/>
                <a:cs typeface="Times New Roman" panose="02020603050405020304" pitchFamily="18" charset="0"/>
              </a:rPr>
              <a:t>Ước</a:t>
            </a:r>
            <a:r>
              <a:rPr lang="en-US" sz="2500" dirty="0">
                <a:solidFill>
                  <a:srgbClr val="FF0000"/>
                </a:solidFill>
                <a:latin typeface="Times New Roman" panose="02020603050405020304" pitchFamily="18" charset="0"/>
                <a:cs typeface="Times New Roman" panose="02020603050405020304" pitchFamily="18" charset="0"/>
              </a:rPr>
              <a:t> </a:t>
            </a:r>
            <a:r>
              <a:rPr lang="en-US" sz="2500" dirty="0" err="1">
                <a:solidFill>
                  <a:srgbClr val="FF0000"/>
                </a:solidFill>
                <a:latin typeface="Times New Roman" panose="02020603050405020304" pitchFamily="18" charset="0"/>
                <a:cs typeface="Times New Roman" panose="02020603050405020304" pitchFamily="18" charset="0"/>
              </a:rPr>
              <a:t>lượng</a:t>
            </a:r>
            <a:r>
              <a:rPr lang="en-US" sz="2500" dirty="0">
                <a:solidFill>
                  <a:srgbClr val="FF0000"/>
                </a:solidFill>
                <a:latin typeface="Times New Roman" panose="02020603050405020304" pitchFamily="18" charset="0"/>
                <a:cs typeface="Times New Roman" panose="02020603050405020304" pitchFamily="18" charset="0"/>
              </a:rPr>
              <a:t> </a:t>
            </a:r>
            <a:r>
              <a:rPr lang="en-US" sz="2500" dirty="0" err="1">
                <a:solidFill>
                  <a:srgbClr val="FF0000"/>
                </a:solidFill>
                <a:latin typeface="Times New Roman" panose="02020603050405020304" pitchFamily="18" charset="0"/>
                <a:cs typeface="Times New Roman" panose="02020603050405020304" pitchFamily="18" charset="0"/>
              </a:rPr>
              <a:t>thời</a:t>
            </a:r>
            <a:r>
              <a:rPr lang="en-US" sz="2500" dirty="0">
                <a:solidFill>
                  <a:srgbClr val="FF0000"/>
                </a:solidFill>
                <a:latin typeface="Times New Roman" panose="02020603050405020304" pitchFamily="18" charset="0"/>
                <a:cs typeface="Times New Roman" panose="02020603050405020304" pitchFamily="18" charset="0"/>
              </a:rPr>
              <a:t> gian:</a:t>
            </a:r>
            <a:r>
              <a:rPr lang="en-US" sz="2500" dirty="0"/>
              <a:t>8 </a:t>
            </a:r>
            <a:r>
              <a:rPr lang="en-US" sz="2500" dirty="0" err="1"/>
              <a:t>tuần</a:t>
            </a:r>
            <a:r>
              <a:rPr lang="en-US" sz="2500" dirty="0"/>
              <a:t> </a:t>
            </a:r>
            <a:r>
              <a:rPr lang="en-US" sz="2500" dirty="0" err="1"/>
              <a:t>kể</a:t>
            </a:r>
            <a:r>
              <a:rPr lang="en-US" sz="2500" dirty="0"/>
              <a:t> </a:t>
            </a:r>
            <a:r>
              <a:rPr lang="en-US" sz="2500" dirty="0" err="1"/>
              <a:t>từ</a:t>
            </a:r>
            <a:r>
              <a:rPr lang="en-US" sz="2500" dirty="0"/>
              <a:t> </a:t>
            </a:r>
            <a:r>
              <a:rPr lang="en-US" sz="2500" dirty="0" err="1"/>
              <a:t>khi</a:t>
            </a:r>
            <a:r>
              <a:rPr lang="en-US" sz="2500" dirty="0"/>
              <a:t> </a:t>
            </a:r>
            <a:r>
              <a:rPr lang="en-US" sz="2500" dirty="0" err="1"/>
              <a:t>thầy</a:t>
            </a:r>
            <a:r>
              <a:rPr lang="en-US" sz="2500" dirty="0"/>
              <a:t> </a:t>
            </a:r>
            <a:r>
              <a:rPr lang="en-US" sz="2500" dirty="0" err="1"/>
              <a:t>giao</a:t>
            </a:r>
            <a:r>
              <a:rPr lang="en-US" sz="2500" dirty="0"/>
              <a:t> </a:t>
            </a:r>
            <a:r>
              <a:rPr lang="en-US" sz="2500" dirty="0" err="1"/>
              <a:t>đồ</a:t>
            </a:r>
            <a:r>
              <a:rPr lang="en-US" sz="2500" dirty="0"/>
              <a:t> </a:t>
            </a:r>
            <a:r>
              <a:rPr lang="en-US" sz="2500" dirty="0" err="1"/>
              <a:t>án</a:t>
            </a:r>
            <a:r>
              <a:rPr lang="en-US" sz="2500" dirty="0"/>
              <a:t> </a:t>
            </a:r>
          </a:p>
          <a:p>
            <a:endParaRPr lang="en-US" sz="2500" dirty="0"/>
          </a:p>
          <a:p>
            <a:r>
              <a:rPr lang="en-US" sz="2500" dirty="0" err="1"/>
              <a:t>Ước</a:t>
            </a:r>
            <a:r>
              <a:rPr lang="en-US" sz="2500" dirty="0"/>
              <a:t> </a:t>
            </a:r>
            <a:r>
              <a:rPr lang="en-US" sz="2500" dirty="0" err="1"/>
              <a:t>lượng</a:t>
            </a:r>
            <a:r>
              <a:rPr lang="en-US" sz="2500" dirty="0"/>
              <a:t> chi </a:t>
            </a:r>
            <a:r>
              <a:rPr lang="en-US" sz="2500" dirty="0" err="1"/>
              <a:t>phí</a:t>
            </a:r>
            <a:r>
              <a:rPr lang="en-US" sz="2500" dirty="0"/>
              <a:t>:*************VNĐ</a:t>
            </a:r>
          </a:p>
          <a:p>
            <a:r>
              <a:rPr lang="en-US" sz="2500" dirty="0" err="1"/>
              <a:t>Người</a:t>
            </a:r>
            <a:r>
              <a:rPr lang="en-US" sz="2500" dirty="0"/>
              <a:t> </a:t>
            </a:r>
            <a:r>
              <a:rPr lang="en-US" sz="2500" dirty="0" err="1"/>
              <a:t>tham</a:t>
            </a:r>
            <a:r>
              <a:rPr lang="en-US" sz="2500" dirty="0"/>
              <a:t> </a:t>
            </a:r>
            <a:r>
              <a:rPr lang="en-US" sz="2500" dirty="0" err="1"/>
              <a:t>gia</a:t>
            </a:r>
            <a:r>
              <a:rPr lang="en-US" sz="2500" dirty="0"/>
              <a:t>: 4 </a:t>
            </a:r>
            <a:r>
              <a:rPr lang="en-US" sz="2500" dirty="0" err="1"/>
              <a:t>thành</a:t>
            </a:r>
            <a:r>
              <a:rPr lang="en-US" sz="2500" dirty="0"/>
              <a:t> </a:t>
            </a:r>
            <a:r>
              <a:rPr lang="en-US" sz="2500" dirty="0" err="1"/>
              <a:t>viên</a:t>
            </a:r>
            <a:r>
              <a:rPr lang="en-US" sz="2500" dirty="0"/>
              <a:t> </a:t>
            </a:r>
          </a:p>
          <a:p>
            <a:r>
              <a:rPr lang="en-US" sz="2500" dirty="0" err="1"/>
              <a:t>Đặng</a:t>
            </a:r>
            <a:r>
              <a:rPr lang="en-US" sz="2500" dirty="0"/>
              <a:t> Minh </a:t>
            </a:r>
            <a:r>
              <a:rPr lang="en-US" sz="2500" dirty="0" err="1"/>
              <a:t>Nghĩa,Nguyễn</a:t>
            </a:r>
            <a:r>
              <a:rPr lang="en-US" sz="2500" dirty="0"/>
              <a:t> Chí </a:t>
            </a:r>
            <a:r>
              <a:rPr lang="en-US" sz="2500" dirty="0" err="1"/>
              <a:t>Đức</a:t>
            </a:r>
            <a:r>
              <a:rPr lang="en-US" sz="2500" dirty="0"/>
              <a:t>, </a:t>
            </a:r>
            <a:r>
              <a:rPr lang="en-US" sz="2500" dirty="0" err="1"/>
              <a:t>Nguyễn</a:t>
            </a:r>
            <a:r>
              <a:rPr lang="en-US" sz="2500" dirty="0"/>
              <a:t> </a:t>
            </a:r>
            <a:r>
              <a:rPr lang="en-US" sz="2500" dirty="0" err="1"/>
              <a:t>Ái</a:t>
            </a:r>
            <a:r>
              <a:rPr lang="en-US" sz="2500" dirty="0"/>
              <a:t> </a:t>
            </a:r>
            <a:r>
              <a:rPr lang="en-US" sz="2500" dirty="0" err="1"/>
              <a:t>Thiềm</a:t>
            </a:r>
            <a:r>
              <a:rPr lang="en-US" sz="2500" dirty="0"/>
              <a:t> </a:t>
            </a:r>
            <a:r>
              <a:rPr lang="en-US" sz="2500" dirty="0" err="1"/>
              <a:t>Định,Trương</a:t>
            </a:r>
            <a:r>
              <a:rPr lang="en-US" sz="2500" dirty="0"/>
              <a:t> Quang </a:t>
            </a:r>
            <a:r>
              <a:rPr lang="en-US" sz="2500" dirty="0" err="1"/>
              <a:t>Phát</a:t>
            </a:r>
            <a:endParaRPr lang="en-US" sz="2500" dirty="0"/>
          </a:p>
        </p:txBody>
      </p:sp>
    </p:spTree>
    <p:extLst>
      <p:ext uri="{BB962C8B-B14F-4D97-AF65-F5344CB8AC3E}">
        <p14:creationId xmlns:p14="http://schemas.microsoft.com/office/powerpoint/2010/main" val="340342220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6" presetClass="entr" presetSubtype="16"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circle(in)">
                                      <p:cBhvr>
                                        <p:cTn id="14"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2264208" y="512134"/>
            <a:ext cx="6890327" cy="707886"/>
          </a:xfrm>
          <a:prstGeom prst="rect">
            <a:avLst/>
          </a:prstGeom>
          <a:noFill/>
        </p:spPr>
        <p:txBody>
          <a:bodyPr wrap="square" lIns="91440" tIns="45720" rIns="91440" bIns="45720">
            <a:spAutoFit/>
          </a:bodyPr>
          <a:lstStyle/>
          <a:p>
            <a:pPr algn="ct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III.Phân</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tích</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thiết</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kế</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hệ</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thống</a:t>
            </a:r>
            <a:endPar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CC1F1F14-C2DA-6E3F-39BD-4CBE7E51E5F1}"/>
              </a:ext>
            </a:extLst>
          </p:cNvPr>
          <p:cNvSpPr/>
          <p:nvPr/>
        </p:nvSpPr>
        <p:spPr>
          <a:xfrm>
            <a:off x="1900311" y="1457028"/>
            <a:ext cx="7465101" cy="161260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Nhân</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vật</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chính</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tham</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gia</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hệ</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thống</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Khách</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hàng</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và</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quản</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lý</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người</a:t>
            </a:r>
            <a:r>
              <a:rPr lang="en-US"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dùng</a:t>
            </a:r>
            <a:endParaRPr lang="en-US" dirty="0"/>
          </a:p>
          <a:p>
            <a:pPr lvl="0"/>
            <a:endParaRPr lang="en-US" dirty="0"/>
          </a:p>
          <a:p>
            <a:endParaRPr lang="en-US" dirty="0"/>
          </a:p>
          <a:p>
            <a:endParaRPr lang="en-US" dirty="0">
              <a:solidFill>
                <a:srgbClr val="FF0000"/>
              </a:solidFill>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06EB0018-2344-A730-BF19-64AE14FE545D}"/>
              </a:ext>
            </a:extLst>
          </p:cNvPr>
          <p:cNvSpPr/>
          <p:nvPr/>
        </p:nvSpPr>
        <p:spPr>
          <a:xfrm>
            <a:off x="1900311" y="3306643"/>
            <a:ext cx="7465101" cy="161260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Sơ</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đồ</a:t>
            </a:r>
            <a:r>
              <a:rPr lang="en-US" dirty="0">
                <a:solidFill>
                  <a:srgbClr val="FF0000"/>
                </a:solidFill>
                <a:latin typeface="Times New Roman" panose="02020603050405020304" pitchFamily="18" charset="0"/>
                <a:cs typeface="Times New Roman" panose="02020603050405020304" pitchFamily="18" charset="0"/>
              </a:rPr>
              <a:t> CDM,PDM:</a:t>
            </a:r>
            <a:endParaRPr lang="en-US" dirty="0"/>
          </a:p>
          <a:p>
            <a:pPr lvl="0"/>
            <a:endParaRPr lang="en-US" dirty="0"/>
          </a:p>
          <a:p>
            <a:endParaRPr lang="en-US" dirty="0"/>
          </a:p>
          <a:p>
            <a:endParaRPr lang="en-US"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81567663"/>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6"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circle(in)">
                                      <p:cBhvr>
                                        <p:cTn id="14" dur="2000"/>
                                        <p:tgtEl>
                                          <p:spTgt spid="2"/>
                                        </p:tgtEl>
                                      </p:cBhvr>
                                    </p:animEffect>
                                  </p:childTnLst>
                                </p:cTn>
                              </p:par>
                            </p:childTnLst>
                          </p:cTn>
                        </p:par>
                      </p:childTnLst>
                    </p:cTn>
                  </p:par>
                  <p:par>
                    <p:cTn id="15" fill="hold">
                      <p:stCondLst>
                        <p:cond delay="indefinite"/>
                      </p:stCondLst>
                      <p:childTnLst>
                        <p:par>
                          <p:cTn id="16" fill="hold">
                            <p:stCondLst>
                              <p:cond delay="0"/>
                            </p:stCondLst>
                            <p:childTnLst>
                              <p:par>
                                <p:cTn id="17" presetID="6" presetClass="entr" presetSubtype="16"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circle(in)">
                                      <p:cBhvr>
                                        <p:cTn id="1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0" y="353444"/>
            <a:ext cx="9243933" cy="707886"/>
          </a:xfrm>
          <a:prstGeom prst="rect">
            <a:avLst/>
          </a:prstGeom>
          <a:noFill/>
        </p:spPr>
        <p:txBody>
          <a:bodyPr wrap="square" lIns="91440" tIns="45720" rIns="91440" bIns="45720">
            <a:spAutoFit/>
          </a:bodyPr>
          <a:lstStyle/>
          <a:p>
            <a:pPr algn="ct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Sơ</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đồ</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CDM,PDM</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82ED19F-34A0-C253-3E1D-66045A526C85}"/>
              </a:ext>
            </a:extLst>
          </p:cNvPr>
          <p:cNvPicPr>
            <a:picLocks noChangeAspect="1"/>
          </p:cNvPicPr>
          <p:nvPr/>
        </p:nvPicPr>
        <p:blipFill>
          <a:blip r:embed="rId2"/>
          <a:stretch>
            <a:fillRect/>
          </a:stretch>
        </p:blipFill>
        <p:spPr>
          <a:xfrm>
            <a:off x="593558" y="1468064"/>
            <a:ext cx="8971217" cy="5036492"/>
          </a:xfrm>
          <a:prstGeom prst="rect">
            <a:avLst/>
          </a:prstGeom>
        </p:spPr>
      </p:pic>
    </p:spTree>
    <p:extLst>
      <p:ext uri="{BB962C8B-B14F-4D97-AF65-F5344CB8AC3E}">
        <p14:creationId xmlns:p14="http://schemas.microsoft.com/office/powerpoint/2010/main" val="2783368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0" y="353444"/>
            <a:ext cx="9243933" cy="707886"/>
          </a:xfrm>
          <a:prstGeom prst="rect">
            <a:avLst/>
          </a:prstGeom>
          <a:noFill/>
        </p:spPr>
        <p:txBody>
          <a:bodyPr wrap="square" lIns="91440" tIns="45720" rIns="91440" bIns="45720">
            <a:spAutoFit/>
          </a:bodyPr>
          <a:lstStyle/>
          <a:p>
            <a:pPr algn="ct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Sơ</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đồ</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CDM,PDM</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60F9FA50-96F1-CB81-CFA3-EBF512BE1CC4}"/>
              </a:ext>
            </a:extLst>
          </p:cNvPr>
          <p:cNvPicPr>
            <a:picLocks noChangeAspect="1"/>
          </p:cNvPicPr>
          <p:nvPr/>
        </p:nvPicPr>
        <p:blipFill>
          <a:blip r:embed="rId2"/>
          <a:stretch>
            <a:fillRect/>
          </a:stretch>
        </p:blipFill>
        <p:spPr>
          <a:xfrm>
            <a:off x="609600" y="1427746"/>
            <a:ext cx="9243933" cy="5076810"/>
          </a:xfrm>
          <a:prstGeom prst="rect">
            <a:avLst/>
          </a:prstGeom>
        </p:spPr>
      </p:pic>
    </p:spTree>
    <p:extLst>
      <p:ext uri="{BB962C8B-B14F-4D97-AF65-F5344CB8AC3E}">
        <p14:creationId xmlns:p14="http://schemas.microsoft.com/office/powerpoint/2010/main" val="292681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353444"/>
            <a:ext cx="7333672" cy="707886"/>
          </a:xfrm>
          <a:prstGeom prst="rect">
            <a:avLst/>
          </a:prstGeom>
          <a:noFill/>
        </p:spPr>
        <p:txBody>
          <a:bodyPr wrap="square" lIns="91440" tIns="45720" rIns="91440" bIns="45720">
            <a:spAutoFit/>
          </a:bodyPr>
          <a:lstStyle/>
          <a:p>
            <a:pPr algn="ct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IV:Mô</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tả</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ứng</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dụng</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quản</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lý</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vé</a:t>
            </a: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 </a:t>
            </a:r>
            <a:r>
              <a:rPr lang="en-US" sz="400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xe</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pic>
        <p:nvPicPr>
          <p:cNvPr id="2" name="Content Placeholder 1">
            <a:extLst>
              <a:ext uri="{FF2B5EF4-FFF2-40B4-BE49-F238E27FC236}">
                <a16:creationId xmlns:a16="http://schemas.microsoft.com/office/drawing/2014/main" id="{DA77D723-ABDF-8E59-12DA-4E0D3665D6D9}"/>
              </a:ext>
            </a:extLst>
          </p:cNvPr>
          <p:cNvPicPr>
            <a:picLocks noGrp="1" noChangeAspect="1"/>
          </p:cNvPicPr>
          <p:nvPr>
            <p:ph idx="1"/>
          </p:nvPr>
        </p:nvPicPr>
        <p:blipFill>
          <a:blip r:embed="rId2"/>
          <a:stretch>
            <a:fillRect/>
          </a:stretch>
        </p:blipFill>
        <p:spPr>
          <a:xfrm>
            <a:off x="545433" y="1379621"/>
            <a:ext cx="9769640" cy="4876799"/>
          </a:xfrm>
          <a:prstGeom prst="rect">
            <a:avLst/>
          </a:prstGeom>
        </p:spPr>
      </p:pic>
    </p:spTree>
    <p:extLst>
      <p:ext uri="{BB962C8B-B14F-4D97-AF65-F5344CB8AC3E}">
        <p14:creationId xmlns:p14="http://schemas.microsoft.com/office/powerpoint/2010/main" val="4089320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pic>
        <p:nvPicPr>
          <p:cNvPr id="6" name="Content Placeholder 5" descr="A screenshot of a login page&#10;&#10;Description automatically generated">
            <a:extLst>
              <a:ext uri="{FF2B5EF4-FFF2-40B4-BE49-F238E27FC236}">
                <a16:creationId xmlns:a16="http://schemas.microsoft.com/office/drawing/2014/main" id="{074B9104-DE15-4D0D-D447-2563D1509A31}"/>
              </a:ext>
            </a:extLst>
          </p:cNvPr>
          <p:cNvPicPr>
            <a:picLocks noGrp="1" noChangeAspect="1"/>
          </p:cNvPicPr>
          <p:nvPr>
            <p:ph idx="1"/>
          </p:nvPr>
        </p:nvPicPr>
        <p:blipFill>
          <a:blip r:embed="rId2"/>
          <a:stretch>
            <a:fillRect/>
          </a:stretch>
        </p:blipFill>
        <p:spPr>
          <a:xfrm>
            <a:off x="1524168" y="2160588"/>
            <a:ext cx="6903701" cy="3881437"/>
          </a:xfrm>
          <a:prstGeom prst="rect">
            <a:avLst/>
          </a:prstGeom>
        </p:spPr>
      </p:pic>
      <p:sp>
        <p:nvSpPr>
          <p:cNvPr id="8" name="TextBox 7">
            <a:extLst>
              <a:ext uri="{FF2B5EF4-FFF2-40B4-BE49-F238E27FC236}">
                <a16:creationId xmlns:a16="http://schemas.microsoft.com/office/drawing/2014/main" id="{1DC3E2F0-DDE7-27D4-D616-E6FA31242FBC}"/>
              </a:ext>
            </a:extLst>
          </p:cNvPr>
          <p:cNvSpPr txBox="1"/>
          <p:nvPr/>
        </p:nvSpPr>
        <p:spPr>
          <a:xfrm>
            <a:off x="2037347" y="1411705"/>
            <a:ext cx="5470358" cy="369332"/>
          </a:xfrm>
          <a:prstGeom prst="rect">
            <a:avLst/>
          </a:prstGeom>
          <a:noFill/>
        </p:spPr>
        <p:txBody>
          <a:bodyPr wrap="square" rtlCol="0">
            <a:spAutoFit/>
          </a:bodyPr>
          <a:lstStyle/>
          <a:p>
            <a:pPr algn="ctr"/>
            <a:r>
              <a:rPr lang="en-US" dirty="0"/>
              <a:t>FORM ĐĂNG NHẬP</a:t>
            </a:r>
          </a:p>
        </p:txBody>
      </p:sp>
    </p:spTree>
    <p:extLst>
      <p:ext uri="{BB962C8B-B14F-4D97-AF65-F5344CB8AC3E}">
        <p14:creationId xmlns:p14="http://schemas.microsoft.com/office/powerpoint/2010/main" val="726495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37347" y="1411705"/>
            <a:ext cx="5470358" cy="369332"/>
          </a:xfrm>
          <a:prstGeom prst="rect">
            <a:avLst/>
          </a:prstGeom>
          <a:noFill/>
        </p:spPr>
        <p:txBody>
          <a:bodyPr wrap="square" rtlCol="0">
            <a:spAutoFit/>
          </a:bodyPr>
          <a:lstStyle/>
          <a:p>
            <a:pPr algn="ctr"/>
            <a:r>
              <a:rPr lang="en-US" dirty="0"/>
              <a:t>FORM TRANG CHỦ</a:t>
            </a:r>
          </a:p>
        </p:txBody>
      </p:sp>
      <p:pic>
        <p:nvPicPr>
          <p:cNvPr id="4" name="Content Placeholder 3" descr="A screenshot of a computer&#10;&#10;Description automatically generated">
            <a:extLst>
              <a:ext uri="{FF2B5EF4-FFF2-40B4-BE49-F238E27FC236}">
                <a16:creationId xmlns:a16="http://schemas.microsoft.com/office/drawing/2014/main" id="{47845A03-9A28-04FB-2D07-AE2DA4D5FC73}"/>
              </a:ext>
            </a:extLst>
          </p:cNvPr>
          <p:cNvPicPr>
            <a:picLocks noGrp="1" noChangeAspect="1"/>
          </p:cNvPicPr>
          <p:nvPr>
            <p:ph idx="1"/>
          </p:nvPr>
        </p:nvPicPr>
        <p:blipFill>
          <a:blip r:embed="rId2"/>
          <a:stretch>
            <a:fillRect/>
          </a:stretch>
        </p:blipFill>
        <p:spPr>
          <a:xfrm>
            <a:off x="1524168" y="2160588"/>
            <a:ext cx="6903701" cy="3881437"/>
          </a:xfrm>
          <a:prstGeom prst="rect">
            <a:avLst/>
          </a:prstGeom>
        </p:spPr>
      </p:pic>
    </p:spTree>
    <p:extLst>
      <p:ext uri="{BB962C8B-B14F-4D97-AF65-F5344CB8AC3E}">
        <p14:creationId xmlns:p14="http://schemas.microsoft.com/office/powerpoint/2010/main" val="2072202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37347" y="1411705"/>
            <a:ext cx="5470358" cy="369332"/>
          </a:xfrm>
          <a:prstGeom prst="rect">
            <a:avLst/>
          </a:prstGeom>
          <a:noFill/>
        </p:spPr>
        <p:txBody>
          <a:bodyPr wrap="square" rtlCol="0">
            <a:spAutoFit/>
          </a:bodyPr>
          <a:lstStyle/>
          <a:p>
            <a:pPr algn="ctr"/>
            <a:r>
              <a:rPr lang="en-US" dirty="0"/>
              <a:t>FORM CHỌN VÉ CHO KHÁCH HÀNG</a:t>
            </a:r>
          </a:p>
        </p:txBody>
      </p:sp>
      <p:pic>
        <p:nvPicPr>
          <p:cNvPr id="6" name="Content Placeholder 5" descr="A screenshot of a computer&#10;&#10;Description automatically generated">
            <a:extLst>
              <a:ext uri="{FF2B5EF4-FFF2-40B4-BE49-F238E27FC236}">
                <a16:creationId xmlns:a16="http://schemas.microsoft.com/office/drawing/2014/main" id="{40ADCEF1-2114-42B8-1EA2-46F61DCD7FA9}"/>
              </a:ext>
            </a:extLst>
          </p:cNvPr>
          <p:cNvPicPr>
            <a:picLocks noGrp="1" noChangeAspect="1"/>
          </p:cNvPicPr>
          <p:nvPr>
            <p:ph idx="1"/>
          </p:nvPr>
        </p:nvPicPr>
        <p:blipFill>
          <a:blip r:embed="rId2"/>
          <a:stretch>
            <a:fillRect/>
          </a:stretch>
        </p:blipFill>
        <p:spPr>
          <a:xfrm>
            <a:off x="1524168" y="2160588"/>
            <a:ext cx="6903701" cy="3881437"/>
          </a:xfrm>
          <a:prstGeom prst="rect">
            <a:avLst/>
          </a:prstGeom>
        </p:spPr>
      </p:pic>
    </p:spTree>
    <p:extLst>
      <p:ext uri="{BB962C8B-B14F-4D97-AF65-F5344CB8AC3E}">
        <p14:creationId xmlns:p14="http://schemas.microsoft.com/office/powerpoint/2010/main" val="1319842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37347" y="1411705"/>
            <a:ext cx="5470358" cy="369332"/>
          </a:xfrm>
          <a:prstGeom prst="rect">
            <a:avLst/>
          </a:prstGeom>
          <a:noFill/>
        </p:spPr>
        <p:txBody>
          <a:bodyPr wrap="square" rtlCol="0">
            <a:spAutoFit/>
          </a:bodyPr>
          <a:lstStyle/>
          <a:p>
            <a:pPr algn="ctr"/>
            <a:r>
              <a:rPr lang="en-US" dirty="0"/>
              <a:t>FORM THÔNG TIN KHÁCH HÀNG</a:t>
            </a:r>
          </a:p>
        </p:txBody>
      </p:sp>
      <p:sp>
        <p:nvSpPr>
          <p:cNvPr id="3" name="Content Placeholder 2">
            <a:extLst>
              <a:ext uri="{FF2B5EF4-FFF2-40B4-BE49-F238E27FC236}">
                <a16:creationId xmlns:a16="http://schemas.microsoft.com/office/drawing/2014/main" id="{308F24AA-04E4-94DE-7F31-A41227ED1C70}"/>
              </a:ext>
            </a:extLst>
          </p:cNvPr>
          <p:cNvSpPr>
            <a:spLocks noGrp="1"/>
          </p:cNvSpPr>
          <p:nvPr>
            <p:ph idx="1"/>
          </p:nvPr>
        </p:nvSpPr>
        <p:spPr/>
        <p:txBody>
          <a:bodyPr/>
          <a:lstStyle/>
          <a:p>
            <a:endParaRPr lang="en-US"/>
          </a:p>
        </p:txBody>
      </p:sp>
      <p:pic>
        <p:nvPicPr>
          <p:cNvPr id="4" name="Picture 3" descr="A screenshot of a computer&#10;&#10;Description automatically generated">
            <a:extLst>
              <a:ext uri="{FF2B5EF4-FFF2-40B4-BE49-F238E27FC236}">
                <a16:creationId xmlns:a16="http://schemas.microsoft.com/office/drawing/2014/main" id="{D21BF7BE-C3F7-7B92-0F04-539574D65E2A}"/>
              </a:ext>
            </a:extLst>
          </p:cNvPr>
          <p:cNvPicPr>
            <a:picLocks noChangeAspect="1"/>
          </p:cNvPicPr>
          <p:nvPr/>
        </p:nvPicPr>
        <p:blipFill>
          <a:blip r:embed="rId2"/>
          <a:stretch>
            <a:fillRect/>
          </a:stretch>
        </p:blipFill>
        <p:spPr>
          <a:xfrm>
            <a:off x="808498" y="2160589"/>
            <a:ext cx="8465503" cy="3880772"/>
          </a:xfrm>
          <a:prstGeom prst="rect">
            <a:avLst/>
          </a:prstGeom>
        </p:spPr>
      </p:pic>
    </p:spTree>
    <p:extLst>
      <p:ext uri="{BB962C8B-B14F-4D97-AF65-F5344CB8AC3E}">
        <p14:creationId xmlns:p14="http://schemas.microsoft.com/office/powerpoint/2010/main" val="23188750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37347" y="1459832"/>
            <a:ext cx="5470358" cy="369332"/>
          </a:xfrm>
          <a:prstGeom prst="rect">
            <a:avLst/>
          </a:prstGeom>
          <a:noFill/>
        </p:spPr>
        <p:txBody>
          <a:bodyPr wrap="square" rtlCol="0">
            <a:spAutoFit/>
          </a:bodyPr>
          <a:lstStyle/>
          <a:p>
            <a:pPr algn="ctr"/>
            <a:r>
              <a:rPr lang="en-US" dirty="0"/>
              <a:t>FORM THANH TOÁN CHO CHUYẾN ĐI</a:t>
            </a:r>
          </a:p>
        </p:txBody>
      </p:sp>
      <p:sp>
        <p:nvSpPr>
          <p:cNvPr id="3" name="Content Placeholder 2">
            <a:extLst>
              <a:ext uri="{FF2B5EF4-FFF2-40B4-BE49-F238E27FC236}">
                <a16:creationId xmlns:a16="http://schemas.microsoft.com/office/drawing/2014/main" id="{308F24AA-04E4-94DE-7F31-A41227ED1C70}"/>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D5B61274-B9AC-92EE-9B26-0D202E673E33}"/>
              </a:ext>
            </a:extLst>
          </p:cNvPr>
          <p:cNvPicPr>
            <a:picLocks noChangeAspect="1"/>
          </p:cNvPicPr>
          <p:nvPr/>
        </p:nvPicPr>
        <p:blipFill>
          <a:blip r:embed="rId2"/>
          <a:stretch>
            <a:fillRect/>
          </a:stretch>
        </p:blipFill>
        <p:spPr>
          <a:xfrm>
            <a:off x="677334" y="2207794"/>
            <a:ext cx="8596667" cy="3880773"/>
          </a:xfrm>
          <a:prstGeom prst="rect">
            <a:avLst/>
          </a:prstGeom>
        </p:spPr>
      </p:pic>
    </p:spTree>
    <p:extLst>
      <p:ext uri="{BB962C8B-B14F-4D97-AF65-F5344CB8AC3E}">
        <p14:creationId xmlns:p14="http://schemas.microsoft.com/office/powerpoint/2010/main" val="4159328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53389" y="1459832"/>
            <a:ext cx="5470358" cy="369332"/>
          </a:xfrm>
          <a:prstGeom prst="rect">
            <a:avLst/>
          </a:prstGeom>
          <a:noFill/>
        </p:spPr>
        <p:txBody>
          <a:bodyPr wrap="square" rtlCol="0">
            <a:spAutoFit/>
          </a:bodyPr>
          <a:lstStyle/>
          <a:p>
            <a:pPr algn="ctr"/>
            <a:r>
              <a:rPr lang="en-US" dirty="0"/>
              <a:t>FORM KIỂM TRA VÉ</a:t>
            </a:r>
          </a:p>
        </p:txBody>
      </p:sp>
      <p:pic>
        <p:nvPicPr>
          <p:cNvPr id="4" name="Content Placeholder 3">
            <a:extLst>
              <a:ext uri="{FF2B5EF4-FFF2-40B4-BE49-F238E27FC236}">
                <a16:creationId xmlns:a16="http://schemas.microsoft.com/office/drawing/2014/main" id="{5EF4D78B-1C47-39F3-A8BB-4B194F89C947}"/>
              </a:ext>
            </a:extLst>
          </p:cNvPr>
          <p:cNvPicPr>
            <a:picLocks noGrp="1" noChangeAspect="1"/>
          </p:cNvPicPr>
          <p:nvPr>
            <p:ph idx="1"/>
          </p:nvPr>
        </p:nvPicPr>
        <p:blipFill>
          <a:blip r:embed="rId2"/>
          <a:stretch>
            <a:fillRect/>
          </a:stretch>
        </p:blipFill>
        <p:spPr>
          <a:xfrm>
            <a:off x="1524168" y="2160588"/>
            <a:ext cx="6903701" cy="3881437"/>
          </a:xfrm>
          <a:prstGeom prst="rect">
            <a:avLst/>
          </a:prstGeom>
        </p:spPr>
      </p:pic>
    </p:spTree>
    <p:extLst>
      <p:ext uri="{BB962C8B-B14F-4D97-AF65-F5344CB8AC3E}">
        <p14:creationId xmlns:p14="http://schemas.microsoft.com/office/powerpoint/2010/main" val="2638207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53389" y="1459832"/>
            <a:ext cx="5470358" cy="369332"/>
          </a:xfrm>
          <a:prstGeom prst="rect">
            <a:avLst/>
          </a:prstGeom>
          <a:noFill/>
        </p:spPr>
        <p:txBody>
          <a:bodyPr wrap="square" rtlCol="0">
            <a:spAutoFit/>
          </a:bodyPr>
          <a:lstStyle/>
          <a:p>
            <a:pPr algn="ctr"/>
            <a:r>
              <a:rPr lang="en-US" dirty="0"/>
              <a:t>FORM ĐĂNG KÍ TÀI KHOẢN CHO NHÂN VIÊN ĐẶT VÉ</a:t>
            </a:r>
          </a:p>
        </p:txBody>
      </p:sp>
      <p:pic>
        <p:nvPicPr>
          <p:cNvPr id="7" name="Content Placeholder 6" descr="A screenshot of a sign up form&#10;&#10;Description automatically generated">
            <a:extLst>
              <a:ext uri="{FF2B5EF4-FFF2-40B4-BE49-F238E27FC236}">
                <a16:creationId xmlns:a16="http://schemas.microsoft.com/office/drawing/2014/main" id="{CD3775D4-635A-332F-5F62-20E546EC728B}"/>
              </a:ext>
            </a:extLst>
          </p:cNvPr>
          <p:cNvPicPr>
            <a:picLocks noGrp="1" noChangeAspect="1"/>
          </p:cNvPicPr>
          <p:nvPr>
            <p:ph idx="1"/>
          </p:nvPr>
        </p:nvPicPr>
        <p:blipFill>
          <a:blip r:embed="rId2"/>
          <a:stretch>
            <a:fillRect/>
          </a:stretch>
        </p:blipFill>
        <p:spPr>
          <a:xfrm>
            <a:off x="1524168" y="2160588"/>
            <a:ext cx="6903701" cy="3881437"/>
          </a:xfrm>
          <a:prstGeom prst="rect">
            <a:avLst/>
          </a:prstGeom>
        </p:spPr>
      </p:pic>
    </p:spTree>
    <p:extLst>
      <p:ext uri="{BB962C8B-B14F-4D97-AF65-F5344CB8AC3E}">
        <p14:creationId xmlns:p14="http://schemas.microsoft.com/office/powerpoint/2010/main" val="2701241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80470" y="1459832"/>
            <a:ext cx="5416196" cy="369332"/>
          </a:xfrm>
          <a:prstGeom prst="rect">
            <a:avLst/>
          </a:prstGeom>
          <a:noFill/>
        </p:spPr>
        <p:txBody>
          <a:bodyPr wrap="square" rtlCol="0">
            <a:spAutoFit/>
          </a:bodyPr>
          <a:lstStyle/>
          <a:p>
            <a:pPr algn="ctr"/>
            <a:r>
              <a:rPr lang="en-US" dirty="0"/>
              <a:t>FORM QUẢN LÝ NHÂN VIÊN</a:t>
            </a:r>
          </a:p>
        </p:txBody>
      </p:sp>
      <p:pic>
        <p:nvPicPr>
          <p:cNvPr id="4" name="Content Placeholder 3">
            <a:extLst>
              <a:ext uri="{FF2B5EF4-FFF2-40B4-BE49-F238E27FC236}">
                <a16:creationId xmlns:a16="http://schemas.microsoft.com/office/drawing/2014/main" id="{584244D7-2CEC-7B42-62F6-9B7185A09276}"/>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097737" y="2482403"/>
            <a:ext cx="5756564" cy="3237807"/>
          </a:xfrm>
          <a:prstGeom prst="rect">
            <a:avLst/>
          </a:prstGeom>
          <a:noFill/>
          <a:ln>
            <a:noFill/>
          </a:ln>
        </p:spPr>
      </p:pic>
    </p:spTree>
    <p:extLst>
      <p:ext uri="{BB962C8B-B14F-4D97-AF65-F5344CB8AC3E}">
        <p14:creationId xmlns:p14="http://schemas.microsoft.com/office/powerpoint/2010/main" val="817019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80470" y="1459832"/>
            <a:ext cx="5416196" cy="369332"/>
          </a:xfrm>
          <a:prstGeom prst="rect">
            <a:avLst/>
          </a:prstGeom>
          <a:noFill/>
        </p:spPr>
        <p:txBody>
          <a:bodyPr wrap="square" rtlCol="0">
            <a:spAutoFit/>
          </a:bodyPr>
          <a:lstStyle/>
          <a:p>
            <a:pPr algn="ctr"/>
            <a:r>
              <a:rPr lang="en-US" dirty="0"/>
              <a:t>FORM QUẢN LÝ VÉ XE</a:t>
            </a:r>
          </a:p>
        </p:txBody>
      </p:sp>
      <p:pic>
        <p:nvPicPr>
          <p:cNvPr id="7" name="Content Placeholder 6" descr="A screenshot of a computer&#10;&#10;Description automatically generated">
            <a:extLst>
              <a:ext uri="{FF2B5EF4-FFF2-40B4-BE49-F238E27FC236}">
                <a16:creationId xmlns:a16="http://schemas.microsoft.com/office/drawing/2014/main" id="{97B75619-EB19-5159-9098-FA746127B171}"/>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097737" y="2482403"/>
            <a:ext cx="5756564" cy="3237807"/>
          </a:xfrm>
          <a:prstGeom prst="rect">
            <a:avLst/>
          </a:prstGeom>
          <a:noFill/>
          <a:ln>
            <a:noFill/>
          </a:ln>
        </p:spPr>
      </p:pic>
    </p:spTree>
    <p:extLst>
      <p:ext uri="{BB962C8B-B14F-4D97-AF65-F5344CB8AC3E}">
        <p14:creationId xmlns:p14="http://schemas.microsoft.com/office/powerpoint/2010/main" val="2290670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80470" y="1459832"/>
            <a:ext cx="5416196" cy="369332"/>
          </a:xfrm>
          <a:prstGeom prst="rect">
            <a:avLst/>
          </a:prstGeom>
          <a:noFill/>
        </p:spPr>
        <p:txBody>
          <a:bodyPr wrap="square" rtlCol="0">
            <a:spAutoFit/>
          </a:bodyPr>
          <a:lstStyle/>
          <a:p>
            <a:pPr algn="ctr"/>
            <a:r>
              <a:rPr lang="en-US" dirty="0"/>
              <a:t>FORM QUẢN LÝ XE</a:t>
            </a:r>
          </a:p>
        </p:txBody>
      </p:sp>
      <p:pic>
        <p:nvPicPr>
          <p:cNvPr id="4" name="Content Placeholder 3" descr="A screenshot of a computer&#10;&#10;Description automatically generated">
            <a:extLst>
              <a:ext uri="{FF2B5EF4-FFF2-40B4-BE49-F238E27FC236}">
                <a16:creationId xmlns:a16="http://schemas.microsoft.com/office/drawing/2014/main" id="{245231ED-16EA-A89B-9F31-283FA291452A}"/>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097737" y="2482403"/>
            <a:ext cx="5756564" cy="3237807"/>
          </a:xfrm>
          <a:prstGeom prst="rect">
            <a:avLst/>
          </a:prstGeom>
          <a:noFill/>
          <a:ln>
            <a:noFill/>
          </a:ln>
        </p:spPr>
      </p:pic>
    </p:spTree>
    <p:extLst>
      <p:ext uri="{BB962C8B-B14F-4D97-AF65-F5344CB8AC3E}">
        <p14:creationId xmlns:p14="http://schemas.microsoft.com/office/powerpoint/2010/main" val="2840332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80470" y="1459832"/>
            <a:ext cx="5416196" cy="369332"/>
          </a:xfrm>
          <a:prstGeom prst="rect">
            <a:avLst/>
          </a:prstGeom>
          <a:noFill/>
        </p:spPr>
        <p:txBody>
          <a:bodyPr wrap="square" rtlCol="0">
            <a:spAutoFit/>
          </a:bodyPr>
          <a:lstStyle/>
          <a:p>
            <a:pPr algn="ctr"/>
            <a:r>
              <a:rPr lang="en-US" dirty="0"/>
              <a:t>FORM QUẢN LÝ CHUYẾN XE</a:t>
            </a:r>
          </a:p>
        </p:txBody>
      </p:sp>
      <p:pic>
        <p:nvPicPr>
          <p:cNvPr id="6" name="Content Placeholder 5" descr="A screenshot of a computer&#10;&#10;Description automatically generated">
            <a:extLst>
              <a:ext uri="{FF2B5EF4-FFF2-40B4-BE49-F238E27FC236}">
                <a16:creationId xmlns:a16="http://schemas.microsoft.com/office/drawing/2014/main" id="{72D406C8-3463-F8FC-0A39-914C36C0522B}"/>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097737" y="2482403"/>
            <a:ext cx="5756564" cy="3237807"/>
          </a:xfrm>
          <a:prstGeom prst="rect">
            <a:avLst/>
          </a:prstGeom>
          <a:noFill/>
          <a:ln>
            <a:noFill/>
          </a:ln>
        </p:spPr>
      </p:pic>
    </p:spTree>
    <p:extLst>
      <p:ext uri="{BB962C8B-B14F-4D97-AF65-F5344CB8AC3E}">
        <p14:creationId xmlns:p14="http://schemas.microsoft.com/office/powerpoint/2010/main" val="2222295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219201" y="278693"/>
            <a:ext cx="7333672" cy="707886"/>
          </a:xfrm>
          <a:prstGeom prst="rect">
            <a:avLst/>
          </a:prstGeom>
          <a:noFill/>
        </p:spPr>
        <p:txBody>
          <a:bodyPr wrap="square" lIns="91440" tIns="45720" rIns="91440" bIns="45720">
            <a:spAutoFit/>
          </a:bodyPr>
          <a:lstStyle/>
          <a:p>
            <a:pPr algn="ctr"/>
            <a:r>
              <a:rPr lang="en-US" sz="4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rPr>
              <a:t>V : FORM ỨNG DỤNG</a:t>
            </a:r>
            <a:endParaRPr lang="en-US" sz="40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1DC3E2F0-DDE7-27D4-D616-E6FA31242FBC}"/>
              </a:ext>
            </a:extLst>
          </p:cNvPr>
          <p:cNvSpPr txBox="1"/>
          <p:nvPr/>
        </p:nvSpPr>
        <p:spPr>
          <a:xfrm>
            <a:off x="2080470" y="1459832"/>
            <a:ext cx="5416196" cy="369332"/>
          </a:xfrm>
          <a:prstGeom prst="rect">
            <a:avLst/>
          </a:prstGeom>
          <a:noFill/>
        </p:spPr>
        <p:txBody>
          <a:bodyPr wrap="square" rtlCol="0">
            <a:spAutoFit/>
          </a:bodyPr>
          <a:lstStyle/>
          <a:p>
            <a:pPr algn="ctr"/>
            <a:r>
              <a:rPr lang="en-US" dirty="0"/>
              <a:t>FORM QUẢN LÝ TUYẾN XE</a:t>
            </a:r>
          </a:p>
        </p:txBody>
      </p:sp>
      <p:pic>
        <p:nvPicPr>
          <p:cNvPr id="4" name="Content Placeholder 3" descr="A screenshot of a computer&#10;&#10;Description automatically generated">
            <a:extLst>
              <a:ext uri="{FF2B5EF4-FFF2-40B4-BE49-F238E27FC236}">
                <a16:creationId xmlns:a16="http://schemas.microsoft.com/office/drawing/2014/main" id="{ADF06764-390B-13E5-F3D3-6116106E877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652338" y="2438400"/>
            <a:ext cx="7122694" cy="3673641"/>
          </a:xfrm>
          <a:prstGeom prst="rect">
            <a:avLst/>
          </a:prstGeom>
          <a:noFill/>
          <a:ln>
            <a:noFill/>
          </a:ln>
        </p:spPr>
      </p:pic>
    </p:spTree>
    <p:extLst>
      <p:ext uri="{BB962C8B-B14F-4D97-AF65-F5344CB8AC3E}">
        <p14:creationId xmlns:p14="http://schemas.microsoft.com/office/powerpoint/2010/main" val="3134632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765452" y="1996932"/>
            <a:ext cx="8773184" cy="1754326"/>
          </a:xfrm>
          <a:prstGeom prst="rect">
            <a:avLst/>
          </a:prstGeom>
          <a:noFill/>
        </p:spPr>
        <p:txBody>
          <a:bodyPr wrap="square" lIns="91440" tIns="45720" rIns="91440" bIns="45720">
            <a:spAutoFit/>
          </a:bodyPr>
          <a:lstStyle/>
          <a:p>
            <a:pPr algn="ct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Cảm</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ơn</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thầy</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đã</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xem</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và</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lắng</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nghe</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lắng</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r>
              <a:rPr lang="en-US" sz="5400" b="1" dirty="0" err="1">
                <a:ln w="9525">
                  <a:solidFill>
                    <a:schemeClr val="bg1"/>
                  </a:solidFill>
                  <a:prstDash val="solid"/>
                </a:ln>
                <a:solidFill>
                  <a:srgbClr val="FF0000"/>
                </a:solidFill>
                <a:effectLst>
                  <a:outerShdw blurRad="12700" dist="38100" dir="2700000" algn="tl" rotWithShape="0">
                    <a:schemeClr val="bg1">
                      <a:lumMod val="50000"/>
                    </a:schemeClr>
                  </a:outerShdw>
                </a:effectLst>
              </a:rPr>
              <a:t>nghe</a:t>
            </a:r>
            <a:r>
              <a:rPr lang="en-US" sz="5400" b="1" dirty="0">
                <a:ln w="9525">
                  <a:solidFill>
                    <a:schemeClr val="bg1"/>
                  </a:solidFill>
                  <a:prstDash val="solid"/>
                </a:ln>
                <a:solidFill>
                  <a:srgbClr val="FF0000"/>
                </a:solidFill>
                <a:effectLst>
                  <a:outerShdw blurRad="12700" dist="38100" dir="2700000" algn="tl" rotWithShape="0">
                    <a:schemeClr val="bg1">
                      <a:lumMod val="50000"/>
                    </a:schemeClr>
                  </a:outerShdw>
                </a:effectLst>
              </a:rPr>
              <a:t> !!!</a:t>
            </a:r>
            <a:endParaRPr lang="en-US" sz="5400" b="1" cap="none" spc="0" dirty="0">
              <a:ln w="9525">
                <a:solidFill>
                  <a:schemeClr val="bg1"/>
                </a:solidFill>
                <a:prstDash val="solid"/>
              </a:ln>
              <a:solidFill>
                <a:srgbClr val="FF0000"/>
              </a:solidFill>
              <a:effectLst>
                <a:outerShdw blurRad="12700" dist="38100" dir="2700000" algn="tl" rotWithShape="0">
                  <a:schemeClr val="bg1">
                    <a:lumMod val="50000"/>
                  </a:schemeClr>
                </a:outerShdw>
              </a:effectLst>
            </a:endParaRPr>
          </a:p>
        </p:txBody>
      </p:sp>
      <p:pic>
        <p:nvPicPr>
          <p:cNvPr id="3" name="Graphic 2" descr="Angel face outline outline">
            <a:extLst>
              <a:ext uri="{FF2B5EF4-FFF2-40B4-BE49-F238E27FC236}">
                <a16:creationId xmlns:a16="http://schemas.microsoft.com/office/drawing/2014/main" id="{62AB0718-96B6-FC28-60CD-646C9657DD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87889" y="4114800"/>
            <a:ext cx="3336758" cy="2743200"/>
          </a:xfrm>
          <a:prstGeom prst="rect">
            <a:avLst/>
          </a:prstGeom>
        </p:spPr>
      </p:pic>
    </p:spTree>
    <p:extLst>
      <p:ext uri="{BB962C8B-B14F-4D97-AF65-F5344CB8AC3E}">
        <p14:creationId xmlns:p14="http://schemas.microsoft.com/office/powerpoint/2010/main" val="2282157683"/>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812</TotalTime>
  <Words>393</Words>
  <Application>Microsoft Office PowerPoint</Application>
  <PresentationFormat>Widescreen</PresentationFormat>
  <Paragraphs>68</Paragraphs>
  <Slides>22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Times New Roman</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Truong Phat</cp:lastModifiedBy>
  <cp:revision>65</cp:revision>
  <dcterms:created xsi:type="dcterms:W3CDTF">2023-12-05T15:08:48Z</dcterms:created>
  <dcterms:modified xsi:type="dcterms:W3CDTF">2024-05-24T21:04:07Z</dcterms:modified>
</cp:coreProperties>
</file>